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57" r:id="rId4"/>
    <p:sldId id="258" r:id="rId5"/>
    <p:sldId id="261" r:id="rId6"/>
    <p:sldId id="264" r:id="rId7"/>
    <p:sldId id="259" r:id="rId8"/>
    <p:sldId id="262" r:id="rId9"/>
    <p:sldId id="265" r:id="rId10"/>
    <p:sldId id="266" r:id="rId11"/>
    <p:sldId id="267" r:id="rId12"/>
    <p:sldId id="260" r:id="rId13"/>
  </p:sldIdLst>
  <p:sldSz cx="18288000" cy="10287000"/>
  <p:notesSz cx="6858000" cy="9144000"/>
  <p:embeddedFontLst>
    <p:embeddedFont>
      <p:font typeface="AmsiPro-Regular" panose="020B0A060202010101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11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0:00-0:30. Saludo breve. Nombrar el proyecto y a los tres integrantes. No leer el titulo completo, solo presentarlo.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0:30-1:00. Mostrar el mapa de los 25 minutos y quien habla en cada parte. Sirve tambien como guion propio: no leerlo en voz alta completo, solo señalar las partes.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1:00-3:00. Contar el caso (grua de madrugada, reclamo 3 dias despues) antes de leer las tarjetas. Cerrar con la frase de la propuesta.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3:00-5:00. Leer la pregunta completa una sola vez. En el objetivo general, enfatizar 'expediente unico' y 'no depende de los dispositivos personales'. En las 4 tarjetas, mencionar que los 4 objetivos se miden con 4 indicadores (ver diapositiva de avance).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5:00-6:30. Señalar el mapa de navegacion mientras se nombran los 7 modulos. Leer 'no incluye' completo: la profesora valora mucho los limites explicitos.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6:30-8:30. Esta diapositiva responde directamente a la retroalimentacion de la profesora: no enumerar 'pruebas de formato, de revision documental...' sino explicar TIPOS de prueba (fase 4) y el avance real por incrementos (fase 3), no modulo por modulo.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8:30-10:00. Enfatizar que la app NO hace confrontacion con autoridades ni certifica ausencia de hurto (lo dice la nota final). Mencionar el tope de fotos/video como regla parametrizable por la central, no un numero fijo inventado.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10:00-11:30. No leer la lista de tecnologias completa; señalar 2-3 piezas clave (TypeScript de punta a punta, Prisma, Dexie.js para el modo sin conexion) y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11:30-13:00. Esta es la diapositiva mas importante de toda la sustentacion: el criterio de avance funcional vale 20%, el mas alto de la rubrica. Decir los numeros con seguridad (54 pruebas, 140 expedientes, 5 perfiles) y anunciar que se va a demostrar en vivo, no solo contar.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13:00-14:30. El punto fuerte para preguntas: por que se reescribio el sistema en PHP. Tener lista la comparacion de codigo (inyeccion SQL, credenciales en texto plano) por si la preguntan en la ronda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14:30-22:30 (~8 min). Checklist de la demo, en este orden: 1) login rol Central, 2) tablero con 140 expedientes, 3) radicar expediente nuevo y mostrar el numero VS-2026-xxxxxx generado solo, 4) desconectar la red desde devtools, registrar, reconectar y mostrar la sincronizacion, 5) cambiar a rol Tecnico y mostrar que solo ve sus expedientes, 6) correr 'npm run test' en la terminal y mostrar las 54 pruebas en verde. ANTES de empezar: npm run db:reset y npm run dev ya corriendo, pestañas Central y Tecnico abiertas, zoom del navegador al 125%, notificaciones silenciadas.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0.svg"/><Relationship Id="rId5" Type="http://schemas.openxmlformats.org/officeDocument/2006/relationships/image" Target="../media/image15.svg"/><Relationship Id="rId10" Type="http://schemas.openxmlformats.org/officeDocument/2006/relationships/image" Target="../media/image19.svg"/><Relationship Id="rId4" Type="http://schemas.openxmlformats.org/officeDocument/2006/relationships/image" Target="../media/image14.sv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1589" y="-149007"/>
            <a:ext cx="18944110" cy="10640275"/>
          </a:xfrm>
          <a:custGeom>
            <a:avLst/>
            <a:gdLst/>
            <a:ahLst/>
            <a:cxnLst/>
            <a:rect l="l" t="t" r="r" b="b"/>
            <a:pathLst>
              <a:path w="18944110" h="10640275">
                <a:moveTo>
                  <a:pt x="0" y="0"/>
                </a:moveTo>
                <a:lnTo>
                  <a:pt x="18944110" y="0"/>
                </a:lnTo>
                <a:lnTo>
                  <a:pt x="18944110" y="10640275"/>
                </a:lnTo>
                <a:lnTo>
                  <a:pt x="0" y="1064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-22038" t="-21332" r="-37220" b="-37925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7008806" y="-9733530"/>
            <a:ext cx="4546270" cy="19467060"/>
            <a:chOff x="0" y="0"/>
            <a:chExt cx="1197372" cy="51271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97371" cy="5127127"/>
            </a:xfrm>
            <a:custGeom>
              <a:avLst/>
              <a:gdLst/>
              <a:ahLst/>
              <a:cxnLst/>
              <a:rect l="l" t="t" r="r" b="b"/>
              <a:pathLst>
                <a:path w="1197371" h="5127127">
                  <a:moveTo>
                    <a:pt x="0" y="0"/>
                  </a:moveTo>
                  <a:lnTo>
                    <a:pt x="1197371" y="0"/>
                  </a:lnTo>
                  <a:lnTo>
                    <a:pt x="1197371" y="5127127"/>
                  </a:lnTo>
                  <a:lnTo>
                    <a:pt x="0" y="512712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97372" cy="51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7008806" y="-283204"/>
            <a:ext cx="4546270" cy="19467060"/>
            <a:chOff x="0" y="0"/>
            <a:chExt cx="1197372" cy="51271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7371" cy="5127127"/>
            </a:xfrm>
            <a:custGeom>
              <a:avLst/>
              <a:gdLst/>
              <a:ahLst/>
              <a:cxnLst/>
              <a:rect l="l" t="t" r="r" b="b"/>
              <a:pathLst>
                <a:path w="1197371" h="5127127">
                  <a:moveTo>
                    <a:pt x="0" y="0"/>
                  </a:moveTo>
                  <a:lnTo>
                    <a:pt x="1197371" y="0"/>
                  </a:lnTo>
                  <a:lnTo>
                    <a:pt x="1197371" y="5127127"/>
                  </a:lnTo>
                  <a:lnTo>
                    <a:pt x="0" y="5127127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97372" cy="51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909405" y="5750555"/>
            <a:ext cx="8203289" cy="8567403"/>
          </a:xfrm>
          <a:custGeom>
            <a:avLst/>
            <a:gdLst/>
            <a:ahLst/>
            <a:cxnLst/>
            <a:rect l="l" t="t" r="r" b="b"/>
            <a:pathLst>
              <a:path w="8203289" h="8567403">
                <a:moveTo>
                  <a:pt x="0" y="0"/>
                </a:moveTo>
                <a:lnTo>
                  <a:pt x="8203289" y="0"/>
                </a:lnTo>
                <a:lnTo>
                  <a:pt x="8203289" y="8567404"/>
                </a:lnTo>
                <a:lnTo>
                  <a:pt x="0" y="8567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10098873" y="5807705"/>
            <a:ext cx="8203289" cy="8567403"/>
          </a:xfrm>
          <a:custGeom>
            <a:avLst/>
            <a:gdLst/>
            <a:ahLst/>
            <a:cxnLst/>
            <a:rect l="l" t="t" r="r" b="b"/>
            <a:pathLst>
              <a:path w="8203289" h="8567403">
                <a:moveTo>
                  <a:pt x="0" y="0"/>
                </a:moveTo>
                <a:lnTo>
                  <a:pt x="8203289" y="0"/>
                </a:lnTo>
                <a:lnTo>
                  <a:pt x="8203289" y="8567404"/>
                </a:lnTo>
                <a:lnTo>
                  <a:pt x="0" y="8567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 flipH="1">
            <a:off x="10098873" y="-665495"/>
            <a:ext cx="7995803" cy="7036306"/>
          </a:xfrm>
          <a:custGeom>
            <a:avLst/>
            <a:gdLst/>
            <a:ahLst/>
            <a:cxnLst/>
            <a:rect l="l" t="t" r="r" b="b"/>
            <a:pathLst>
              <a:path w="7995803" h="7036306">
                <a:moveTo>
                  <a:pt x="7995803" y="0"/>
                </a:moveTo>
                <a:lnTo>
                  <a:pt x="0" y="0"/>
                </a:lnTo>
                <a:lnTo>
                  <a:pt x="0" y="7036307"/>
                </a:lnTo>
                <a:lnTo>
                  <a:pt x="7995803" y="7036307"/>
                </a:lnTo>
                <a:lnTo>
                  <a:pt x="7995803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Freeform 12"/>
          <p:cNvSpPr/>
          <p:nvPr/>
        </p:nvSpPr>
        <p:spPr>
          <a:xfrm flipH="1">
            <a:off x="10292197" y="-665495"/>
            <a:ext cx="7995803" cy="7036306"/>
          </a:xfrm>
          <a:custGeom>
            <a:avLst/>
            <a:gdLst/>
            <a:ahLst/>
            <a:cxnLst/>
            <a:rect l="l" t="t" r="r" b="b"/>
            <a:pathLst>
              <a:path w="7995803" h="7036306">
                <a:moveTo>
                  <a:pt x="7995803" y="0"/>
                </a:moveTo>
                <a:lnTo>
                  <a:pt x="0" y="0"/>
                </a:lnTo>
                <a:lnTo>
                  <a:pt x="0" y="7036307"/>
                </a:lnTo>
                <a:lnTo>
                  <a:pt x="7995803" y="7036307"/>
                </a:lnTo>
                <a:lnTo>
                  <a:pt x="799580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Freeform 13"/>
          <p:cNvSpPr/>
          <p:nvPr/>
        </p:nvSpPr>
        <p:spPr>
          <a:xfrm>
            <a:off x="6058261" y="8080593"/>
            <a:ext cx="6171478" cy="1674014"/>
          </a:xfrm>
          <a:custGeom>
            <a:avLst/>
            <a:gdLst/>
            <a:ahLst/>
            <a:cxnLst/>
            <a:rect l="l" t="t" r="r" b="b"/>
            <a:pathLst>
              <a:path w="6171478" h="1674014">
                <a:moveTo>
                  <a:pt x="0" y="0"/>
                </a:moveTo>
                <a:lnTo>
                  <a:pt x="6171478" y="0"/>
                </a:lnTo>
                <a:lnTo>
                  <a:pt x="6171478" y="1674014"/>
                </a:lnTo>
                <a:lnTo>
                  <a:pt x="0" y="16740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1" name="Título 101"/>
          <p:cNvSpPr txBox="1"/>
          <p:nvPr/>
        </p:nvSpPr>
        <p:spPr>
          <a:xfrm>
            <a:off x="914400" y="2194560"/>
            <a:ext cx="877824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36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VialServi: aplicativo web para la gestión de expedientes de servicios mecánicos, de cerrajería, de grúa y de conductor elegido</a:t>
            </a:r>
          </a:p>
        </p:txBody>
      </p:sp>
      <p:sp>
        <p:nvSpPr>
          <p:cNvPr id="102" name="Autores 102"/>
          <p:cNvSpPr txBox="1"/>
          <p:nvPr/>
        </p:nvSpPr>
        <p:spPr>
          <a:xfrm>
            <a:off x="914400" y="4937760"/>
            <a:ext cx="8778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2200" b="1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Edwin Andrés Sánchez Orozco, Brahian Estiven Rendón Murillo y Juan Pablo Vásquez Marín</a:t>
            </a:r>
          </a:p>
        </p:txBody>
      </p:sp>
      <p:sp>
        <p:nvSpPr>
          <p:cNvPr id="103" name="Datos 103"/>
          <p:cNvSpPr txBox="1"/>
          <p:nvPr/>
        </p:nvSpPr>
        <p:spPr>
          <a:xfrm>
            <a:off x="914400" y="6035040"/>
            <a:ext cx="87782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Proyecto Integrador</a:t>
            </a:r>
          </a:p>
          <a:p>
            <a:pPr algn="l">
              <a:spcAft>
                <a:spcPts val="300"/>
              </a:spcAft>
              <a:buNone/>
            </a:pP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Docente: Claudia Alejandra Rosero Noguera</a:t>
            </a:r>
          </a:p>
          <a:p>
            <a:pPr algn="l">
              <a:spcAft>
                <a:spcPts val="0"/>
              </a:spcAft>
              <a:buNone/>
            </a:pP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Facultad de Ingenierías · </a:t>
            </a:r>
            <a:r>
              <a:rPr lang="es-CO" sz="200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05 de Octubre </a:t>
            </a: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890222" cy="4303395"/>
          </a:xfrm>
          <a:custGeom>
            <a:avLst/>
            <a:gdLst/>
            <a:ahLst/>
            <a:cxnLst/>
            <a:rect l="l" t="t" r="r" b="b"/>
            <a:pathLst>
              <a:path w="4890222" h="4303395">
                <a:moveTo>
                  <a:pt x="0" y="0"/>
                </a:moveTo>
                <a:lnTo>
                  <a:pt x="4890222" y="0"/>
                </a:lnTo>
                <a:lnTo>
                  <a:pt x="4890222" y="4303395"/>
                </a:lnTo>
                <a:lnTo>
                  <a:pt x="0" y="43033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0" y="6145530"/>
            <a:ext cx="4011930" cy="4114800"/>
          </a:xfrm>
          <a:custGeom>
            <a:avLst/>
            <a:gdLst/>
            <a:ahLst/>
            <a:cxnLst/>
            <a:rect l="l" t="t" r="r" b="b"/>
            <a:pathLst>
              <a:path w="4011930" h="4114800">
                <a:moveTo>
                  <a:pt x="0" y="0"/>
                </a:moveTo>
                <a:lnTo>
                  <a:pt x="4011930" y="0"/>
                </a:lnTo>
                <a:lnTo>
                  <a:pt x="40119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4115195" y="8775387"/>
            <a:ext cx="3604952" cy="965827"/>
          </a:xfrm>
          <a:custGeom>
            <a:avLst/>
            <a:gdLst/>
            <a:ahLst/>
            <a:cxnLst/>
            <a:rect l="l" t="t" r="r" b="b"/>
            <a:pathLst>
              <a:path w="3604952" h="965827">
                <a:moveTo>
                  <a:pt x="0" y="0"/>
                </a:moveTo>
                <a:lnTo>
                  <a:pt x="3604951" y="0"/>
                </a:lnTo>
                <a:lnTo>
                  <a:pt x="3604951" y="965826"/>
                </a:lnTo>
                <a:lnTo>
                  <a:pt x="0" y="965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1" name="Título 101"/>
          <p:cNvSpPr txBox="1"/>
          <p:nvPr/>
        </p:nvSpPr>
        <p:spPr>
          <a:xfrm>
            <a:off x="4937760" y="640080"/>
            <a:ext cx="118872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5000" b="1" i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Qué vamos a ver hoy (25 minutos)</a:t>
            </a:r>
            <a:endParaRPr lang="es-CO" sz="5000" b="1" i="0" dirty="0">
              <a:solidFill>
                <a:srgbClr val="FFFFFF"/>
              </a:solidFill>
              <a:latin typeface="AmsiPro-Regular"/>
              <a:ea typeface="AmsiPro-Regular"/>
              <a:cs typeface="AmsiPro-Regular"/>
              <a:sym typeface="AmsiPro-Regular"/>
            </a:endParaRPr>
          </a:p>
        </p:txBody>
      </p:sp>
      <p:sp>
        <p:nvSpPr>
          <p:cNvPr id="102" name="Sub 1 102"/>
          <p:cNvSpPr txBox="1"/>
          <p:nvPr/>
        </p:nvSpPr>
        <p:spPr>
          <a:xfrm>
            <a:off x="4937760" y="210312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22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Agenda</a:t>
            </a:r>
          </a:p>
        </p:txBody>
      </p:sp>
      <p:sp>
        <p:nvSpPr>
          <p:cNvPr id="103" name="Pasos 103"/>
          <p:cNvSpPr txBox="1"/>
          <p:nvPr/>
        </p:nvSpPr>
        <p:spPr>
          <a:xfrm>
            <a:off x="4937760" y="2743200"/>
            <a:ext cx="5852160" cy="521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s-CO" sz="19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1. </a:t>
            </a: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Problema, objetivos y alcance — 5 min.</a:t>
            </a:r>
          </a:p>
          <a:p>
            <a:pPr algn="l">
              <a:spcAft>
                <a:spcPts val="900"/>
              </a:spcAft>
              <a:buNone/>
            </a:pPr>
            <a:r>
              <a:rPr lang="es-CO" sz="19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2. </a:t>
            </a: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Metodología, controles y conservación — 5 min.</a:t>
            </a:r>
          </a:p>
          <a:p>
            <a:pPr algn="l">
              <a:spcAft>
                <a:spcPts val="900"/>
              </a:spcAft>
              <a:buNone/>
            </a:pPr>
            <a:r>
              <a:rPr lang="es-CO" sz="19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3. </a:t>
            </a: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Avance funcional y arquitectura — 4 min.</a:t>
            </a:r>
          </a:p>
          <a:p>
            <a:pPr algn="l">
              <a:spcAft>
                <a:spcPts val="900"/>
              </a:spcAft>
              <a:buNone/>
            </a:pPr>
            <a:r>
              <a:rPr lang="es-CO" sz="19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4. </a:t>
            </a: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Demostración en vivo del software — 8 min.</a:t>
            </a:r>
          </a:p>
          <a:p>
            <a:pPr algn="l">
              <a:spcAft>
                <a:spcPts val="900"/>
              </a:spcAft>
              <a:buNone/>
            </a:pPr>
            <a:r>
              <a:rPr lang="es-CO" sz="19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5. </a:t>
            </a: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Cierre y espacio para preguntas — 3 min.</a:t>
            </a:r>
          </a:p>
        </p:txBody>
      </p:sp>
      <p:sp>
        <p:nvSpPr>
          <p:cNvPr id="104" name="Sub 2 104"/>
          <p:cNvSpPr txBox="1"/>
          <p:nvPr/>
        </p:nvSpPr>
        <p:spPr>
          <a:xfrm>
            <a:off x="11338560" y="210312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22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Quién presenta</a:t>
            </a:r>
          </a:p>
        </p:txBody>
      </p:sp>
      <p:sp>
        <p:nvSpPr>
          <p:cNvPr id="105" name="Sin conexión 105"/>
          <p:cNvSpPr txBox="1"/>
          <p:nvPr/>
        </p:nvSpPr>
        <p:spPr>
          <a:xfrm>
            <a:off x="11338560" y="2743200"/>
            <a:ext cx="5486400" cy="521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342900" indent="-342900" algn="l">
              <a:spcAft>
                <a:spcPts val="900"/>
              </a:spcAft>
              <a:buFont typeface="Arial"/>
              <a:buChar char="•"/>
            </a:pP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Edwin Andrés Sánchez Orozco — problema, objetivos, alcance y metodología.</a:t>
            </a:r>
          </a:p>
          <a:p>
            <a:pPr marL="342900" indent="-342900" algn="l">
              <a:spcAft>
                <a:spcPts val="900"/>
              </a:spcAft>
              <a:buFont typeface="Arial"/>
              <a:buChar char="•"/>
            </a:pP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Juan Pablo Vásquez Marín — controles, conservación y arquitectura técnica.</a:t>
            </a:r>
          </a:p>
          <a:p>
            <a:pPr marL="342900" indent="-342900" algn="l">
              <a:spcAft>
                <a:spcPts val="900"/>
              </a:spcAft>
              <a:buFont typeface="Arial"/>
              <a:buChar char="•"/>
            </a:pP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Brahian Estiven Rendón Murillo — demostración en vivo y cierre.</a:t>
            </a:r>
          </a:p>
        </p:txBody>
      </p:sp>
    </p:spTree>
    <p:extLst>
      <p:ext uri="{BB962C8B-B14F-4D97-AF65-F5344CB8AC3E}">
        <p14:creationId xmlns:p14="http://schemas.microsoft.com/office/powerpoint/2010/main" val="25840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053078" cy="4114800"/>
          </a:xfrm>
          <a:custGeom>
            <a:avLst/>
            <a:gdLst/>
            <a:ahLst/>
            <a:cxnLst/>
            <a:rect l="l" t="t" r="r" b="b"/>
            <a:pathLst>
              <a:path w="4053078" h="4114800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 rot="-10800000">
            <a:off x="14430375" y="6172200"/>
            <a:ext cx="3857625" cy="4114800"/>
          </a:xfrm>
          <a:custGeom>
            <a:avLst/>
            <a:gdLst/>
            <a:ahLst/>
            <a:cxnLst/>
            <a:rect l="l" t="t" r="r" b="b"/>
            <a:pathLst>
              <a:path w="3857625" h="4114800">
                <a:moveTo>
                  <a:pt x="0" y="0"/>
                </a:moveTo>
                <a:lnTo>
                  <a:pt x="3857625" y="0"/>
                </a:lnTo>
                <a:lnTo>
                  <a:pt x="38576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448126" y="8776124"/>
            <a:ext cx="3604952" cy="977843"/>
          </a:xfrm>
          <a:custGeom>
            <a:avLst/>
            <a:gdLst/>
            <a:ahLst/>
            <a:cxnLst/>
            <a:rect l="l" t="t" r="r" b="b"/>
            <a:pathLst>
              <a:path w="3604952" h="977843">
                <a:moveTo>
                  <a:pt x="0" y="0"/>
                </a:moveTo>
                <a:lnTo>
                  <a:pt x="3604952" y="0"/>
                </a:lnTo>
                <a:lnTo>
                  <a:pt x="3604952" y="977843"/>
                </a:lnTo>
                <a:lnTo>
                  <a:pt x="0" y="977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1" name="Título 101"/>
          <p:cNvSpPr txBox="1"/>
          <p:nvPr/>
        </p:nvSpPr>
        <p:spPr>
          <a:xfrm>
            <a:off x="4480560" y="640080"/>
            <a:ext cx="12252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50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El problema: evidencias dispersas</a:t>
            </a:r>
          </a:p>
        </p:txBody>
      </p:sp>
      <p:sp>
        <p:nvSpPr>
          <p:cNvPr id="102" name="Contexto 102"/>
          <p:cNvSpPr txBox="1"/>
          <p:nvPr/>
        </p:nvSpPr>
        <p:spPr>
          <a:xfrm>
            <a:off x="4480560" y="2103120"/>
            <a:ext cx="1225296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22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VialServi presta tres servicios: carro taller (mecánica y cerrajería), traslado en grúa y conductor elegido las 24 horas. En cada atención intervienen el cliente, la central y el técnico o conductor.</a:t>
            </a:r>
          </a:p>
        </p:txBody>
      </p:sp>
      <p:sp>
        <p:nvSpPr>
          <p:cNvPr id="103" name="Tarjeta 103"/>
          <p:cNvSpPr txBox="1"/>
          <p:nvPr/>
        </p:nvSpPr>
        <p:spPr>
          <a:xfrm>
            <a:off x="1280160" y="3931920"/>
            <a:ext cx="4937760" cy="2103120"/>
          </a:xfrm>
          <a:prstGeom prst="roundRect">
            <a:avLst>
              <a:gd name="adj" fmla="val 7000"/>
            </a:avLst>
          </a:prstGeom>
          <a:solidFill>
            <a:srgbClr val="EEF7F1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2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Archivos dispersos</a:t>
            </a:r>
          </a:p>
          <a:p>
            <a:pPr algn="l"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Formatos, mensajes y fotos quedan entre registros manuales, WhatsApp y celulares personales.</a:t>
            </a:r>
          </a:p>
        </p:txBody>
      </p:sp>
      <p:sp>
        <p:nvSpPr>
          <p:cNvPr id="104" name="Tarjeta 104"/>
          <p:cNvSpPr txBox="1"/>
          <p:nvPr/>
        </p:nvSpPr>
        <p:spPr>
          <a:xfrm>
            <a:off x="6583680" y="3931920"/>
            <a:ext cx="4937760" cy="2103120"/>
          </a:xfrm>
          <a:prstGeom prst="roundRect">
            <a:avLst>
              <a:gd name="adj" fmla="val 7000"/>
            </a:avLst>
          </a:prstGeom>
          <a:solidFill>
            <a:srgbClr val="EEF7F1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2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Solicitante sin verificar</a:t>
            </a:r>
          </a:p>
          <a:p>
            <a:pPr algn="l"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La placa no basta: falta contrastar la tarjeta de propiedad y dejar constancia de quién autoriza.</a:t>
            </a:r>
          </a:p>
        </p:txBody>
      </p:sp>
      <p:sp>
        <p:nvSpPr>
          <p:cNvPr id="105" name="Tarjeta 105"/>
          <p:cNvSpPr txBox="1"/>
          <p:nvPr/>
        </p:nvSpPr>
        <p:spPr>
          <a:xfrm>
            <a:off x="11887200" y="3931920"/>
            <a:ext cx="4937760" cy="2103120"/>
          </a:xfrm>
          <a:prstGeom prst="roundRect">
            <a:avLst>
              <a:gd name="adj" fmla="val 7000"/>
            </a:avLst>
          </a:prstGeom>
          <a:solidFill>
            <a:srgbClr val="EEF7F1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2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Conservación sin regla</a:t>
            </a:r>
          </a:p>
          <a:p>
            <a:pPr algn="l"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Guardar en celulares o acumular en la nube sin control no asegura recuperar los soportes.</a:t>
            </a:r>
          </a:p>
        </p:txBody>
      </p:sp>
      <p:sp>
        <p:nvSpPr>
          <p:cNvPr id="106" name="Propuesta 106"/>
          <p:cNvSpPr txBox="1"/>
          <p:nvPr/>
        </p:nvSpPr>
        <p:spPr>
          <a:xfrm>
            <a:off x="1280160" y="6400800"/>
            <a:ext cx="1261872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s-CO" sz="24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La propuesta: </a:t>
            </a:r>
            <a:r>
              <a:rPr lang="es-CO" sz="24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un aplicativo web que reúne en un expediente único el formato, el vehículo, las personas, las evidencias y las decisiones de la central, con registro en campo sin conexión.</a:t>
            </a:r>
          </a:p>
          <a:p>
            <a:pPr algn="l">
              <a:spcAft>
                <a:spcPts val="0"/>
              </a:spcAft>
              <a:buNone/>
            </a:pPr>
            <a:r>
              <a:rPr lang="es-CO" sz="2000" b="0" i="1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Ante una reclamación, la central consulta todo en un solo lugar.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04104" cy="5486400"/>
            </a:xfrm>
            <a:custGeom>
              <a:avLst/>
              <a:gdLst/>
              <a:ahLst/>
              <a:cxnLst/>
              <a:rect l="l" t="t" r="r" b="b"/>
              <a:pathLst>
                <a:path w="5404104" h="5486400">
                  <a:moveTo>
                    <a:pt x="0" y="0"/>
                  </a:moveTo>
                  <a:lnTo>
                    <a:pt x="5404104" y="0"/>
                  </a:lnTo>
                  <a:lnTo>
                    <a:pt x="540410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Freeform 4"/>
            <p:cNvSpPr/>
            <p:nvPr/>
          </p:nvSpPr>
          <p:spPr>
            <a:xfrm rot="-10800000">
              <a:off x="19240500" y="8229600"/>
              <a:ext cx="5143500" cy="5486400"/>
            </a:xfrm>
            <a:custGeom>
              <a:avLst/>
              <a:gdLst/>
              <a:ahLst/>
              <a:cxnLst/>
              <a:rect l="l" t="t" r="r" b="b"/>
              <a:pathLst>
                <a:path w="5143500" h="5486400">
                  <a:moveTo>
                    <a:pt x="0" y="0"/>
                  </a:moveTo>
                  <a:lnTo>
                    <a:pt x="5143500" y="0"/>
                  </a:lnTo>
                  <a:lnTo>
                    <a:pt x="51435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" name="Freeform 5"/>
          <p:cNvSpPr/>
          <p:nvPr/>
        </p:nvSpPr>
        <p:spPr>
          <a:xfrm>
            <a:off x="448126" y="8776124"/>
            <a:ext cx="3604952" cy="977843"/>
          </a:xfrm>
          <a:custGeom>
            <a:avLst/>
            <a:gdLst/>
            <a:ahLst/>
            <a:cxnLst/>
            <a:rect l="l" t="t" r="r" b="b"/>
            <a:pathLst>
              <a:path w="3604952" h="977843">
                <a:moveTo>
                  <a:pt x="0" y="0"/>
                </a:moveTo>
                <a:lnTo>
                  <a:pt x="3604952" y="0"/>
                </a:lnTo>
                <a:lnTo>
                  <a:pt x="3604952" y="977843"/>
                </a:lnTo>
                <a:lnTo>
                  <a:pt x="0" y="977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1" name="Título 101"/>
          <p:cNvSpPr txBox="1"/>
          <p:nvPr/>
        </p:nvSpPr>
        <p:spPr>
          <a:xfrm>
            <a:off x="4480560" y="548640"/>
            <a:ext cx="122529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46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Pregunta de investigación y objetivos</a:t>
            </a:r>
          </a:p>
        </p:txBody>
      </p:sp>
      <p:sp>
        <p:nvSpPr>
          <p:cNvPr id="102" name="Pregunta 102"/>
          <p:cNvSpPr txBox="1"/>
          <p:nvPr/>
        </p:nvSpPr>
        <p:spPr>
          <a:xfrm>
            <a:off x="4480560" y="2286000"/>
            <a:ext cx="12344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2200" b="0" i="1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¿En qué medida un aplicativo web con expedientes únicos, control de acceso por roles y captura sin conexión mejora la integridad, centralización, disponibilidad y trazabilidad de las evidencias de VialServi, frente al proceso actual basado en dispositivos personales de los técnicos?</a:t>
            </a:r>
          </a:p>
        </p:txBody>
      </p:sp>
      <p:sp>
        <p:nvSpPr>
          <p:cNvPr id="103" name="Objetivo general 103"/>
          <p:cNvSpPr txBox="1"/>
          <p:nvPr/>
        </p:nvSpPr>
        <p:spPr>
          <a:xfrm>
            <a:off x="4480560" y="4206240"/>
            <a:ext cx="123444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19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Objetivo general: </a:t>
            </a:r>
            <a:r>
              <a:rPr lang="es-CO" sz="19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construir un aplicativo web con expediente único por servicio y acceso por roles, para que la evidencia de cada atención no dependa de los dispositivos personales de los técnicos.</a:t>
            </a:r>
          </a:p>
        </p:txBody>
      </p:sp>
      <p:sp>
        <p:nvSpPr>
          <p:cNvPr id="104" name="Tarjeta 104"/>
          <p:cNvSpPr txBox="1"/>
          <p:nvPr/>
        </p:nvSpPr>
        <p:spPr>
          <a:xfrm>
            <a:off x="4490392" y="5676900"/>
            <a:ext cx="62179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1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1. Analizar</a:t>
            </a:r>
          </a:p>
          <a:p>
            <a:pPr algn="l"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Necesidades de información, formatos por servicio, revisión documental, acceso y conservación.</a:t>
            </a:r>
          </a:p>
        </p:txBody>
      </p:sp>
      <p:sp>
        <p:nvSpPr>
          <p:cNvPr id="105" name="Tarjeta 105"/>
          <p:cNvSpPr txBox="1"/>
          <p:nvPr/>
        </p:nvSpPr>
        <p:spPr>
          <a:xfrm>
            <a:off x="11074072" y="5676900"/>
            <a:ext cx="62179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1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2. Diseñar</a:t>
            </a:r>
          </a:p>
          <a:p>
            <a:pPr algn="l"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Estructura del aplicativo y de la base de datos, con sus entidades y relaciones.</a:t>
            </a:r>
          </a:p>
        </p:txBody>
      </p:sp>
      <p:sp>
        <p:nvSpPr>
          <p:cNvPr id="106" name="Tarjeta 106"/>
          <p:cNvSpPr txBox="1"/>
          <p:nvPr/>
        </p:nvSpPr>
        <p:spPr>
          <a:xfrm>
            <a:off x="4490392" y="7231380"/>
            <a:ext cx="6217920" cy="16687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1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3. Construir</a:t>
            </a:r>
          </a:p>
          <a:p>
            <a:pPr algn="l"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Por incrementos, con el stack definido: Node/Express/Prisma en el servidor, React/Vite en la interfaz, Dexie.js para el registro sin conexión.</a:t>
            </a:r>
          </a:p>
        </p:txBody>
      </p:sp>
      <p:sp>
        <p:nvSpPr>
          <p:cNvPr id="107" name="Tarjeta 107"/>
          <p:cNvSpPr txBox="1"/>
          <p:nvPr/>
        </p:nvSpPr>
        <p:spPr>
          <a:xfrm>
            <a:off x="11074072" y="7231380"/>
            <a:ext cx="6217920" cy="16687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1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4. Verificar</a:t>
            </a:r>
          </a:p>
          <a:p>
            <a:pPr algn="l"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Con tipos de prueba ISO/IEC 25010: unitarias, integración, interfaz, caja blanca, rendimiento y recuperación.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053078" cy="4114800"/>
          </a:xfrm>
          <a:custGeom>
            <a:avLst/>
            <a:gdLst/>
            <a:ahLst/>
            <a:cxnLst/>
            <a:rect l="l" t="t" r="r" b="b"/>
            <a:pathLst>
              <a:path w="4053078" h="4114800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 rot="-10800000">
            <a:off x="14430375" y="6172200"/>
            <a:ext cx="3857625" cy="4114800"/>
          </a:xfrm>
          <a:custGeom>
            <a:avLst/>
            <a:gdLst/>
            <a:ahLst/>
            <a:cxnLst/>
            <a:rect l="l" t="t" r="r" b="b"/>
            <a:pathLst>
              <a:path w="3857625" h="4114800">
                <a:moveTo>
                  <a:pt x="0" y="0"/>
                </a:moveTo>
                <a:lnTo>
                  <a:pt x="3857625" y="0"/>
                </a:lnTo>
                <a:lnTo>
                  <a:pt x="38576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448126" y="8776124"/>
            <a:ext cx="3604952" cy="977843"/>
          </a:xfrm>
          <a:custGeom>
            <a:avLst/>
            <a:gdLst/>
            <a:ahLst/>
            <a:cxnLst/>
            <a:rect l="l" t="t" r="r" b="b"/>
            <a:pathLst>
              <a:path w="3604952" h="977843">
                <a:moveTo>
                  <a:pt x="0" y="0"/>
                </a:moveTo>
                <a:lnTo>
                  <a:pt x="3604952" y="0"/>
                </a:lnTo>
                <a:lnTo>
                  <a:pt x="3604952" y="977843"/>
                </a:lnTo>
                <a:lnTo>
                  <a:pt x="0" y="977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1" name="Título 101"/>
          <p:cNvSpPr txBox="1"/>
          <p:nvPr/>
        </p:nvSpPr>
        <p:spPr>
          <a:xfrm>
            <a:off x="4480560" y="640080"/>
            <a:ext cx="12252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48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Alcance: siete módulos, un expediente</a:t>
            </a:r>
          </a:p>
        </p:txBody>
      </p:sp>
      <p:sp>
        <p:nvSpPr>
          <p:cNvPr id="102" name="Intro 102"/>
          <p:cNvSpPr txBox="1"/>
          <p:nvPr/>
        </p:nvSpPr>
        <p:spPr>
          <a:xfrm>
            <a:off x="1340739" y="2354088"/>
            <a:ext cx="585216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El vehículo es la referencia común de cada atención. Cliente, propietario, técnico y servicio quedan ligados a un expediente único.</a:t>
            </a:r>
          </a:p>
        </p:txBody>
      </p:sp>
      <p:sp>
        <p:nvSpPr>
          <p:cNvPr id="103" name="Módulos 103"/>
          <p:cNvSpPr txBox="1"/>
          <p:nvPr/>
        </p:nvSpPr>
        <p:spPr>
          <a:xfrm>
            <a:off x="1280160" y="3931920"/>
            <a:ext cx="585216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Seguridad y control de acceso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Gestionar vehículo e inventario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Gestionar cliente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Gestionar técnico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Gestionar servicio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Gestionar expediente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s-CO" sz="20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Históricos y reportes</a:t>
            </a:r>
          </a:p>
        </p:txBody>
      </p:sp>
      <p:pic>
        <p:nvPicPr>
          <p:cNvPr id="104" name="Mapa de navegación" descr="Mapa de navegación del aplicativo VialServ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79" y="2377440"/>
            <a:ext cx="6766560" cy="4495591"/>
          </a:xfrm>
          <a:prstGeom prst="rect">
            <a:avLst/>
          </a:prstGeom>
        </p:spPr>
      </p:pic>
      <p:sp>
        <p:nvSpPr>
          <p:cNvPr id="105" name="Fuera de alcance 105"/>
          <p:cNvSpPr txBox="1"/>
          <p:nvPr/>
        </p:nvSpPr>
        <p:spPr>
          <a:xfrm>
            <a:off x="1280160" y="7772400"/>
            <a:ext cx="12801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18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No incluye: </a:t>
            </a: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atención médica o rescate, certificación de propiedad o de ausencia de hurto, otras empresas o servicios, ni el financiamiento del almacenamiento.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04104" cy="5486400"/>
            </a:xfrm>
            <a:custGeom>
              <a:avLst/>
              <a:gdLst/>
              <a:ahLst/>
              <a:cxnLst/>
              <a:rect l="l" t="t" r="r" b="b"/>
              <a:pathLst>
                <a:path w="5404104" h="5486400">
                  <a:moveTo>
                    <a:pt x="0" y="0"/>
                  </a:moveTo>
                  <a:lnTo>
                    <a:pt x="5404104" y="0"/>
                  </a:lnTo>
                  <a:lnTo>
                    <a:pt x="540410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Freeform 4"/>
            <p:cNvSpPr/>
            <p:nvPr/>
          </p:nvSpPr>
          <p:spPr>
            <a:xfrm rot="-10800000">
              <a:off x="19240500" y="8229600"/>
              <a:ext cx="5143500" cy="5486400"/>
            </a:xfrm>
            <a:custGeom>
              <a:avLst/>
              <a:gdLst/>
              <a:ahLst/>
              <a:cxnLst/>
              <a:rect l="l" t="t" r="r" b="b"/>
              <a:pathLst>
                <a:path w="5143500" h="5486400">
                  <a:moveTo>
                    <a:pt x="0" y="0"/>
                  </a:moveTo>
                  <a:lnTo>
                    <a:pt x="5143500" y="0"/>
                  </a:lnTo>
                  <a:lnTo>
                    <a:pt x="51435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" name="Freeform 5"/>
          <p:cNvSpPr/>
          <p:nvPr/>
        </p:nvSpPr>
        <p:spPr>
          <a:xfrm>
            <a:off x="448126" y="8877300"/>
            <a:ext cx="3604952" cy="977843"/>
          </a:xfrm>
          <a:custGeom>
            <a:avLst/>
            <a:gdLst/>
            <a:ahLst/>
            <a:cxnLst/>
            <a:rect l="l" t="t" r="r" b="b"/>
            <a:pathLst>
              <a:path w="3604952" h="977843">
                <a:moveTo>
                  <a:pt x="0" y="0"/>
                </a:moveTo>
                <a:lnTo>
                  <a:pt x="3604952" y="0"/>
                </a:lnTo>
                <a:lnTo>
                  <a:pt x="3604952" y="977843"/>
                </a:lnTo>
                <a:lnTo>
                  <a:pt x="0" y="977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1" name="Título 101"/>
          <p:cNvSpPr txBox="1"/>
          <p:nvPr/>
        </p:nvSpPr>
        <p:spPr>
          <a:xfrm>
            <a:off x="4480560" y="548640"/>
            <a:ext cx="122529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4600" b="1" i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Diseño metodológico: cascada con incrementos</a:t>
            </a:r>
            <a:endParaRPr lang="es-CO" sz="4600" b="1" i="0" dirty="0">
              <a:solidFill>
                <a:srgbClr val="00602A"/>
              </a:solidFill>
              <a:latin typeface="AmsiPro-Regular"/>
              <a:ea typeface="AmsiPro-Regular"/>
              <a:cs typeface="AmsiPro-Regular"/>
              <a:sym typeface="AmsiPro-Regular"/>
            </a:endParaRPr>
          </a:p>
        </p:txBody>
      </p:sp>
      <p:sp>
        <p:nvSpPr>
          <p:cNvPr id="102" name="Pregunta 102"/>
          <p:cNvSpPr txBox="1"/>
          <p:nvPr/>
        </p:nvSpPr>
        <p:spPr>
          <a:xfrm>
            <a:off x="4480560" y="2286000"/>
            <a:ext cx="12344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2200" b="0" i="1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Se adopta el ciclo de vida en cascada con iteración por incrementos (Pressman, 2010; Sommerville, 2005): cada fase entrega un resultado verificable que alimenta la siguiente y se conecta con los 4 objetivos específicos.</a:t>
            </a:r>
          </a:p>
        </p:txBody>
      </p:sp>
      <p:sp>
        <p:nvSpPr>
          <p:cNvPr id="103" name="Objetivo general 103"/>
          <p:cNvSpPr txBox="1"/>
          <p:nvPr/>
        </p:nvSpPr>
        <p:spPr>
          <a:xfrm>
            <a:off x="4480560" y="4206240"/>
            <a:ext cx="123444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19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Cronograma (semana 9 de 18): </a:t>
            </a:r>
            <a:r>
              <a:rPr lang="es-CO" sz="19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construcción de los incrementos 1 y 2 completa; el incremento 3 y las pruebas de rendimiento, usabilidad y recuperación cierran en el parcial 2.</a:t>
            </a:r>
          </a:p>
        </p:txBody>
      </p:sp>
      <p:sp>
        <p:nvSpPr>
          <p:cNvPr id="104" name="Tarjeta 104"/>
          <p:cNvSpPr txBox="1"/>
          <p:nvPr/>
        </p:nvSpPr>
        <p:spPr>
          <a:xfrm>
            <a:off x="4160520" y="5394960"/>
            <a:ext cx="621792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1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1. Análisis</a:t>
            </a:r>
          </a:p>
          <a:p>
            <a:pPr algn="l"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Necesidades de información, formatos de grúa, carro taller y conductor elegido, revisión documental y conservación. Evidencia: formatos y Anexo A.</a:t>
            </a:r>
          </a:p>
        </p:txBody>
      </p:sp>
      <p:sp>
        <p:nvSpPr>
          <p:cNvPr id="105" name="Tarjeta 105"/>
          <p:cNvSpPr txBox="1"/>
          <p:nvPr/>
        </p:nvSpPr>
        <p:spPr>
          <a:xfrm>
            <a:off x="10744200" y="5394960"/>
            <a:ext cx="621792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1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2. Diseño</a:t>
            </a:r>
          </a:p>
          <a:p>
            <a:pPr algn="l"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Modelo de usuarios, vehículos, clientes, técnicos, servicios y evidencias; mapa de navegación y permisos en el servidor. Evidencia: diagrama y esquema Prisma.</a:t>
            </a:r>
          </a:p>
        </p:txBody>
      </p:sp>
      <p:sp>
        <p:nvSpPr>
          <p:cNvPr id="106" name="Tarjeta 106"/>
          <p:cNvSpPr txBox="1"/>
          <p:nvPr/>
        </p:nvSpPr>
        <p:spPr>
          <a:xfrm>
            <a:off x="4177665" y="7132320"/>
            <a:ext cx="621792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1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3. Construcción por incrementos</a:t>
            </a:r>
          </a:p>
          <a:p>
            <a:pPr algn="l"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Incremento 1: acceso y roles. Incremento 2: servicios con formatos versionados y revisión documental. Evidencia: demo en vivo y código.</a:t>
            </a:r>
          </a:p>
        </p:txBody>
      </p:sp>
      <p:sp>
        <p:nvSpPr>
          <p:cNvPr id="107" name="Tarjeta 107"/>
          <p:cNvSpPr txBox="1"/>
          <p:nvPr/>
        </p:nvSpPr>
        <p:spPr>
          <a:xfrm>
            <a:off x="10744200" y="7132320"/>
            <a:ext cx="621792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1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4. Verificación por tipos</a:t>
            </a:r>
          </a:p>
          <a:p>
            <a:pPr algn="l">
              <a:spcAft>
                <a:spcPts val="0"/>
              </a:spcAft>
              <a:buNone/>
            </a:pPr>
            <a:r>
              <a:rPr lang="es-CO" sz="17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Unitarias, integración e interfaz, con fechas simuladas de 2 y 5 años. Evidencia: 54 pruebas y los 4 indicadores de la pregunta.</a:t>
            </a:r>
          </a:p>
        </p:txBody>
      </p:sp>
    </p:spTree>
    <p:extLst>
      <p:ext uri="{BB962C8B-B14F-4D97-AF65-F5344CB8AC3E}">
        <p14:creationId xmlns:p14="http://schemas.microsoft.com/office/powerpoint/2010/main" val="2843722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890222" cy="4303395"/>
          </a:xfrm>
          <a:custGeom>
            <a:avLst/>
            <a:gdLst/>
            <a:ahLst/>
            <a:cxnLst/>
            <a:rect l="l" t="t" r="r" b="b"/>
            <a:pathLst>
              <a:path w="4890222" h="4303395">
                <a:moveTo>
                  <a:pt x="0" y="0"/>
                </a:moveTo>
                <a:lnTo>
                  <a:pt x="4890222" y="0"/>
                </a:lnTo>
                <a:lnTo>
                  <a:pt x="4890222" y="4303395"/>
                </a:lnTo>
                <a:lnTo>
                  <a:pt x="0" y="43033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0" y="6145530"/>
            <a:ext cx="4011930" cy="4114800"/>
          </a:xfrm>
          <a:custGeom>
            <a:avLst/>
            <a:gdLst/>
            <a:ahLst/>
            <a:cxnLst/>
            <a:rect l="l" t="t" r="r" b="b"/>
            <a:pathLst>
              <a:path w="4011930" h="4114800">
                <a:moveTo>
                  <a:pt x="0" y="0"/>
                </a:moveTo>
                <a:lnTo>
                  <a:pt x="4011930" y="0"/>
                </a:lnTo>
                <a:lnTo>
                  <a:pt x="40119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4115195" y="8775387"/>
            <a:ext cx="3604952" cy="965827"/>
          </a:xfrm>
          <a:custGeom>
            <a:avLst/>
            <a:gdLst/>
            <a:ahLst/>
            <a:cxnLst/>
            <a:rect l="l" t="t" r="r" b="b"/>
            <a:pathLst>
              <a:path w="3604952" h="965827">
                <a:moveTo>
                  <a:pt x="0" y="0"/>
                </a:moveTo>
                <a:lnTo>
                  <a:pt x="3604951" y="0"/>
                </a:lnTo>
                <a:lnTo>
                  <a:pt x="3604951" y="965826"/>
                </a:lnTo>
                <a:lnTo>
                  <a:pt x="0" y="965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1" name="Título 101"/>
          <p:cNvSpPr txBox="1"/>
          <p:nvPr/>
        </p:nvSpPr>
        <p:spPr>
          <a:xfrm>
            <a:off x="4937760" y="640080"/>
            <a:ext cx="118872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5000" b="1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Controles clave del aplicativo</a:t>
            </a:r>
          </a:p>
        </p:txBody>
      </p:sp>
      <p:sp>
        <p:nvSpPr>
          <p:cNvPr id="102" name="Sub 1 102"/>
          <p:cNvSpPr txBox="1"/>
          <p:nvPr/>
        </p:nvSpPr>
        <p:spPr>
          <a:xfrm>
            <a:off x="4937760" y="210312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22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Verificación documental antes de la atención</a:t>
            </a:r>
          </a:p>
        </p:txBody>
      </p:sp>
      <p:sp>
        <p:nvSpPr>
          <p:cNvPr id="103" name="Pasos 103"/>
          <p:cNvSpPr txBox="1"/>
          <p:nvPr/>
        </p:nvSpPr>
        <p:spPr>
          <a:xfrm>
            <a:off x="4937760" y="3107533"/>
            <a:ext cx="5852160" cy="521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s-CO" sz="19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1. </a:t>
            </a: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El solicitante aporta identificación, licencia de tránsito y, si no es propietario, soporte de autorización.</a:t>
            </a:r>
          </a:p>
          <a:p>
            <a:pPr algn="l">
              <a:spcAft>
                <a:spcPts val="900"/>
              </a:spcAft>
              <a:buNone/>
            </a:pPr>
            <a:r>
              <a:rPr lang="es-CO" sz="19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2. </a:t>
            </a: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La central contrasta documento, solicitante y placa; puede consultar el RUNT de forma manual y registrar el resultado.</a:t>
            </a:r>
          </a:p>
          <a:p>
            <a:pPr algn="l">
              <a:spcAft>
                <a:spcPts val="900"/>
              </a:spcAft>
              <a:buNone/>
            </a:pPr>
            <a:r>
              <a:rPr lang="es-CO" sz="19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3. </a:t>
            </a: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El técnico compara el vehículo presente con el expediente; si hay diferencias, suspende y reporta.</a:t>
            </a:r>
          </a:p>
          <a:p>
            <a:pPr algn="l">
              <a:spcAft>
                <a:spcPts val="900"/>
              </a:spcAft>
              <a:buNone/>
            </a:pPr>
            <a:r>
              <a:rPr lang="es-CO" sz="19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4. </a:t>
            </a: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Con documentos faltantes o inconsistentes, el expediente queda pendiente o rechazado, con su motivo.</a:t>
            </a:r>
          </a:p>
        </p:txBody>
      </p:sp>
      <p:sp>
        <p:nvSpPr>
          <p:cNvPr id="104" name="Sub 2 104"/>
          <p:cNvSpPr txBox="1"/>
          <p:nvPr/>
        </p:nvSpPr>
        <p:spPr>
          <a:xfrm>
            <a:off x="11338560" y="210312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2200" b="1" i="0" dirty="0">
                <a:solidFill>
                  <a:srgbClr val="FCF80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Registro sin conexión</a:t>
            </a:r>
          </a:p>
        </p:txBody>
      </p:sp>
      <p:sp>
        <p:nvSpPr>
          <p:cNvPr id="105" name="Sin conexión 105"/>
          <p:cNvSpPr txBox="1"/>
          <p:nvPr/>
        </p:nvSpPr>
        <p:spPr>
          <a:xfrm>
            <a:off x="11338560" y="3107533"/>
            <a:ext cx="5486400" cy="521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342900" indent="-342900" algn="l">
              <a:spcAft>
                <a:spcPts val="900"/>
              </a:spcAft>
              <a:buFont typeface="Arial"/>
              <a:buChar char="•"/>
            </a:pP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Solo servicios ya asignados y descargados en el dispositivo.</a:t>
            </a:r>
          </a:p>
          <a:p>
            <a:pPr marL="342900" indent="-342900" algn="l">
              <a:spcAft>
                <a:spcPts val="900"/>
              </a:spcAft>
              <a:buFont typeface="Arial"/>
              <a:buChar char="•"/>
            </a:pP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Los datos quedan pendientes y se sincronizan al volver la conexión.</a:t>
            </a:r>
          </a:p>
          <a:p>
            <a:pPr marL="342900" indent="-342900" algn="l">
              <a:spcAft>
                <a:spcPts val="900"/>
              </a:spcAft>
              <a:buFont typeface="Arial"/>
              <a:buChar char="•"/>
            </a:pP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Cada registro tiene identificador propio: un reintento no duplica el expediente.</a:t>
            </a:r>
          </a:p>
          <a:p>
            <a:pPr marL="342900" indent="-342900" algn="l">
              <a:spcAft>
                <a:spcPts val="900"/>
              </a:spcAft>
              <a:buFont typeface="Arial"/>
              <a:buChar char="•"/>
            </a:pP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El servidor valida permisos y estado; sin conexión no se autoriza ni se cierra.</a:t>
            </a:r>
          </a:p>
          <a:p>
            <a:pPr marL="342900" indent="-342900" algn="l">
              <a:spcAft>
                <a:spcPts val="900"/>
              </a:spcAft>
              <a:buFont typeface="Arial"/>
              <a:buChar char="•"/>
            </a:pPr>
            <a:r>
              <a:rPr lang="es-CO" sz="19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La copia temporal se retira tras la confirmación del servidor.</a:t>
            </a:r>
          </a:p>
        </p:txBody>
      </p:sp>
      <p:sp>
        <p:nvSpPr>
          <p:cNvPr id="106" name="Nota 106"/>
          <p:cNvSpPr txBox="1"/>
          <p:nvPr/>
        </p:nvSpPr>
        <p:spPr>
          <a:xfrm>
            <a:off x="4648200" y="864403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1800" b="0" i="1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Reduce el riesgo y deja trazabilidad; no certifica que un vehículo no sea robado.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053078" cy="4114800"/>
          </a:xfrm>
          <a:custGeom>
            <a:avLst/>
            <a:gdLst/>
            <a:ahLst/>
            <a:cxnLst/>
            <a:rect l="l" t="t" r="r" b="b"/>
            <a:pathLst>
              <a:path w="4053078" h="4114800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 rot="-10800000">
            <a:off x="14430375" y="6172200"/>
            <a:ext cx="3857625" cy="4114800"/>
          </a:xfrm>
          <a:custGeom>
            <a:avLst/>
            <a:gdLst/>
            <a:ahLst/>
            <a:cxnLst/>
            <a:rect l="l" t="t" r="r" b="b"/>
            <a:pathLst>
              <a:path w="3857625" h="4114800">
                <a:moveTo>
                  <a:pt x="0" y="0"/>
                </a:moveTo>
                <a:lnTo>
                  <a:pt x="3857625" y="0"/>
                </a:lnTo>
                <a:lnTo>
                  <a:pt x="38576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448126" y="8776124"/>
            <a:ext cx="3604952" cy="977843"/>
          </a:xfrm>
          <a:custGeom>
            <a:avLst/>
            <a:gdLst/>
            <a:ahLst/>
            <a:cxnLst/>
            <a:rect l="l" t="t" r="r" b="b"/>
            <a:pathLst>
              <a:path w="3604952" h="977843">
                <a:moveTo>
                  <a:pt x="0" y="0"/>
                </a:moveTo>
                <a:lnTo>
                  <a:pt x="3604952" y="0"/>
                </a:lnTo>
                <a:lnTo>
                  <a:pt x="3604952" y="977843"/>
                </a:lnTo>
                <a:lnTo>
                  <a:pt x="0" y="977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1" name="Título 101"/>
          <p:cNvSpPr txBox="1"/>
          <p:nvPr/>
        </p:nvSpPr>
        <p:spPr>
          <a:xfrm>
            <a:off x="4480560" y="640080"/>
            <a:ext cx="12252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50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Conservación y tecnología</a:t>
            </a:r>
          </a:p>
        </p:txBody>
      </p:sp>
      <p:sp>
        <p:nvSpPr>
          <p:cNvPr id="102" name="Cifra 102"/>
          <p:cNvSpPr txBox="1"/>
          <p:nvPr/>
        </p:nvSpPr>
        <p:spPr>
          <a:xfrm>
            <a:off x="1280160" y="219456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80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5 años</a:t>
            </a:r>
          </a:p>
        </p:txBody>
      </p:sp>
      <p:sp>
        <p:nvSpPr>
          <p:cNvPr id="103" name="Cifra nota 103"/>
          <p:cNvSpPr txBox="1"/>
          <p:nvPr/>
        </p:nvSpPr>
        <p:spPr>
          <a:xfrm>
            <a:off x="1280160" y="365760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19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desde el cierre formal del expediente</a:t>
            </a:r>
          </a:p>
        </p:txBody>
      </p:sp>
      <p:sp>
        <p:nvSpPr>
          <p:cNvPr id="104" name="Fase 1 104"/>
          <p:cNvSpPr txBox="1"/>
          <p:nvPr/>
        </p:nvSpPr>
        <p:spPr>
          <a:xfrm>
            <a:off x="5852160" y="2377440"/>
            <a:ext cx="4937760" cy="1554480"/>
          </a:xfrm>
          <a:prstGeom prst="roundRect">
            <a:avLst>
              <a:gd name="adj" fmla="val 7000"/>
            </a:avLst>
          </a:prstGeom>
          <a:solidFill>
            <a:srgbClr val="009240"/>
          </a:solidFill>
          <a:ln>
            <a:noFill/>
          </a:ln>
        </p:spPr>
        <p:txBody>
          <a:bodyPr wrap="square" lIns="274320" tIns="274320" rIns="274320" bIns="27432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s-CO" sz="3400" b="1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2 años</a:t>
            </a:r>
          </a:p>
          <a:p>
            <a:pPr algn="l">
              <a:spcAft>
                <a:spcPts val="0"/>
              </a:spcAft>
              <a:buNone/>
            </a:pPr>
            <a:r>
              <a:rPr lang="es-CO" sz="20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Consulta operativa</a:t>
            </a:r>
          </a:p>
        </p:txBody>
      </p:sp>
      <p:sp>
        <p:nvSpPr>
          <p:cNvPr id="105" name="Fase 2 105"/>
          <p:cNvSpPr txBox="1"/>
          <p:nvPr/>
        </p:nvSpPr>
        <p:spPr>
          <a:xfrm>
            <a:off x="11064240" y="2377440"/>
            <a:ext cx="4937760" cy="1554480"/>
          </a:xfrm>
          <a:prstGeom prst="roundRect">
            <a:avLst>
              <a:gd name="adj" fmla="val 7000"/>
            </a:avLst>
          </a:prstGeom>
          <a:solidFill>
            <a:srgbClr val="00602A"/>
          </a:solidFill>
          <a:ln>
            <a:noFill/>
          </a:ln>
        </p:spPr>
        <p:txBody>
          <a:bodyPr wrap="square" lIns="274320" tIns="274320" rIns="274320" bIns="27432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s-CO" sz="3400" b="1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3 años</a:t>
            </a:r>
          </a:p>
          <a:p>
            <a:pPr algn="l">
              <a:spcAft>
                <a:spcPts val="0"/>
              </a:spcAft>
              <a:buNone/>
            </a:pPr>
            <a:r>
              <a:rPr lang="es-CO" sz="20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Archivo histórico</a:t>
            </a:r>
          </a:p>
        </p:txBody>
      </p:sp>
      <p:sp>
        <p:nvSpPr>
          <p:cNvPr id="106" name="Reglas 106"/>
          <p:cNvSpPr txBox="1"/>
          <p:nvPr/>
        </p:nvSpPr>
        <p:spPr>
          <a:xfrm>
            <a:off x="5852160" y="4206240"/>
            <a:ext cx="1005840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CO" sz="19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Al vencer: </a:t>
            </a:r>
            <a:r>
              <a:rPr lang="es-CO" sz="19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la central revisa si hay reclamación abierta; sin causa vigente, eliminación controlada con constancia.</a:t>
            </a:r>
          </a:p>
          <a:p>
            <a:pPr algn="l">
              <a:spcAft>
                <a:spcPts val="0"/>
              </a:spcAft>
              <a:buNone/>
            </a:pPr>
            <a:r>
              <a:rPr lang="es-CO" sz="19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Con reclamación abierta: </a:t>
            </a:r>
            <a:r>
              <a:rPr lang="es-CO" sz="19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la eliminación se suspende con motivo, responsable y fecha de revisión.</a:t>
            </a:r>
          </a:p>
        </p:txBody>
      </p:sp>
      <p:sp>
        <p:nvSpPr>
          <p:cNvPr id="107" name="Tecnologías 107"/>
          <p:cNvSpPr txBox="1"/>
          <p:nvPr/>
        </p:nvSpPr>
        <p:spPr>
          <a:xfrm>
            <a:off x="1280160" y="6309360"/>
            <a:ext cx="128016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2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Tecnologías</a:t>
            </a:r>
          </a:p>
          <a:p>
            <a:pPr algn="l">
              <a:spcAft>
                <a:spcPts val="400"/>
              </a:spcAft>
              <a:buNone/>
            </a:pPr>
            <a:r>
              <a:rPr lang="es-CO" sz="18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Servidor: </a:t>
            </a: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TypeScript, Node.js y Express, Zod, Prisma (SQLite, portable a PostgreSQL), JWT y bcrypt</a:t>
            </a:r>
          </a:p>
          <a:p>
            <a:pPr algn="l">
              <a:spcAft>
                <a:spcPts val="400"/>
              </a:spcAft>
              <a:buNone/>
            </a:pPr>
            <a:r>
              <a:rPr lang="es-CO" sz="18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Interfaz: </a:t>
            </a: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React con Vite, Tailwind CSS y TanStack Query; instalable como PWA</a:t>
            </a:r>
          </a:p>
          <a:p>
            <a:pPr algn="l">
              <a:spcAft>
                <a:spcPts val="400"/>
              </a:spcAft>
              <a:buNone/>
            </a:pPr>
            <a:r>
              <a:rPr lang="es-CO" sz="18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Sin señal y nube: </a:t>
            </a: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Dexie.js sobre IndexedDB; Supabase para base de datos y archivos</a:t>
            </a:r>
          </a:p>
          <a:p>
            <a:pPr algn="l">
              <a:spcAft>
                <a:spcPts val="400"/>
              </a:spcAft>
              <a:buNone/>
            </a:pPr>
            <a:r>
              <a:rPr lang="es-CO" sz="18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Pruebas: </a:t>
            </a: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Vitest, Supertest y Postman; Git y npm workspaces en un solo repositorio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053078" cy="4114800"/>
          </a:xfrm>
          <a:custGeom>
            <a:avLst/>
            <a:gdLst/>
            <a:ahLst/>
            <a:cxnLst/>
            <a:rect l="l" t="t" r="r" b="b"/>
            <a:pathLst>
              <a:path w="4053078" h="4114800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 rot="-10800000">
            <a:off x="14430375" y="6172200"/>
            <a:ext cx="3857625" cy="4114800"/>
          </a:xfrm>
          <a:custGeom>
            <a:avLst/>
            <a:gdLst/>
            <a:ahLst/>
            <a:cxnLst/>
            <a:rect l="l" t="t" r="r" b="b"/>
            <a:pathLst>
              <a:path w="3857625" h="4114800">
                <a:moveTo>
                  <a:pt x="0" y="0"/>
                </a:moveTo>
                <a:lnTo>
                  <a:pt x="3857625" y="0"/>
                </a:lnTo>
                <a:lnTo>
                  <a:pt x="38576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448126" y="8776124"/>
            <a:ext cx="3604952" cy="977843"/>
          </a:xfrm>
          <a:custGeom>
            <a:avLst/>
            <a:gdLst/>
            <a:ahLst/>
            <a:cxnLst/>
            <a:rect l="l" t="t" r="r" b="b"/>
            <a:pathLst>
              <a:path w="3604952" h="977843">
                <a:moveTo>
                  <a:pt x="0" y="0"/>
                </a:moveTo>
                <a:lnTo>
                  <a:pt x="3604952" y="0"/>
                </a:lnTo>
                <a:lnTo>
                  <a:pt x="3604952" y="977843"/>
                </a:lnTo>
                <a:lnTo>
                  <a:pt x="0" y="977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1" name="Título 101"/>
          <p:cNvSpPr txBox="1"/>
          <p:nvPr/>
        </p:nvSpPr>
        <p:spPr>
          <a:xfrm>
            <a:off x="4480560" y="640080"/>
            <a:ext cx="12252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5000" b="1" i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Avance funcional y calidad verificada</a:t>
            </a:r>
            <a:endParaRPr lang="es-CO" sz="5000" b="1" i="0" dirty="0">
              <a:solidFill>
                <a:srgbClr val="009240"/>
              </a:solidFill>
              <a:latin typeface="AmsiPro-Regular"/>
              <a:ea typeface="AmsiPro-Regular"/>
              <a:cs typeface="AmsiPro-Regular"/>
              <a:sym typeface="AmsiPro-Regular"/>
            </a:endParaRPr>
          </a:p>
        </p:txBody>
      </p:sp>
      <p:sp>
        <p:nvSpPr>
          <p:cNvPr id="102" name="Cifra 102"/>
          <p:cNvSpPr txBox="1"/>
          <p:nvPr/>
        </p:nvSpPr>
        <p:spPr>
          <a:xfrm>
            <a:off x="1280160" y="219456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80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54</a:t>
            </a:r>
          </a:p>
        </p:txBody>
      </p:sp>
      <p:sp>
        <p:nvSpPr>
          <p:cNvPr id="103" name="Cifra nota 103"/>
          <p:cNvSpPr txBox="1"/>
          <p:nvPr/>
        </p:nvSpPr>
        <p:spPr>
          <a:xfrm>
            <a:off x="1280160" y="365760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19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pruebas automatizadas en verde (unitarias, integración e interfaz)</a:t>
            </a:r>
          </a:p>
        </p:txBody>
      </p:sp>
      <p:sp>
        <p:nvSpPr>
          <p:cNvPr id="104" name="Fase 1 104"/>
          <p:cNvSpPr txBox="1"/>
          <p:nvPr/>
        </p:nvSpPr>
        <p:spPr>
          <a:xfrm>
            <a:off x="5852160" y="2377440"/>
            <a:ext cx="4937760" cy="1554480"/>
          </a:xfrm>
          <a:prstGeom prst="roundRect">
            <a:avLst>
              <a:gd name="adj" fmla="val 7000"/>
            </a:avLst>
          </a:prstGeom>
          <a:solidFill>
            <a:srgbClr val="009240"/>
          </a:solidFill>
          <a:ln>
            <a:noFill/>
          </a:ln>
        </p:spPr>
        <p:txBody>
          <a:bodyPr wrap="square" lIns="274320" tIns="274320" rIns="274320" bIns="27432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s-CO" sz="3400" b="1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140</a:t>
            </a:r>
          </a:p>
          <a:p>
            <a:pPr algn="l">
              <a:spcAft>
                <a:spcPts val="0"/>
              </a:spcAft>
              <a:buNone/>
            </a:pPr>
            <a:r>
              <a:rPr lang="es-CO" sz="20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expedientes de demostración ya cargados</a:t>
            </a:r>
          </a:p>
        </p:txBody>
      </p:sp>
      <p:sp>
        <p:nvSpPr>
          <p:cNvPr id="105" name="Fase 2 105"/>
          <p:cNvSpPr txBox="1"/>
          <p:nvPr/>
        </p:nvSpPr>
        <p:spPr>
          <a:xfrm>
            <a:off x="11064240" y="2377440"/>
            <a:ext cx="4937760" cy="1554480"/>
          </a:xfrm>
          <a:prstGeom prst="roundRect">
            <a:avLst>
              <a:gd name="adj" fmla="val 7000"/>
            </a:avLst>
          </a:prstGeom>
          <a:solidFill>
            <a:srgbClr val="00602A"/>
          </a:solidFill>
          <a:ln>
            <a:noFill/>
          </a:ln>
        </p:spPr>
        <p:txBody>
          <a:bodyPr wrap="square" lIns="274320" tIns="274320" rIns="274320" bIns="27432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s-CO" sz="3400" b="1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5</a:t>
            </a:r>
          </a:p>
          <a:p>
            <a:pPr algn="l">
              <a:spcAft>
                <a:spcPts val="0"/>
              </a:spcAft>
              <a:buNone/>
            </a:pPr>
            <a:r>
              <a:rPr lang="es-CO" sz="2000" b="0" i="0" dirty="0">
                <a:solidFill>
                  <a:srgbClr val="FFFFFF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perfiles de usuario con permisos diferenciados</a:t>
            </a:r>
          </a:p>
        </p:txBody>
      </p:sp>
      <p:sp>
        <p:nvSpPr>
          <p:cNvPr id="106" name="Reglas 106"/>
          <p:cNvSpPr txBox="1"/>
          <p:nvPr/>
        </p:nvSpPr>
        <p:spPr>
          <a:xfrm>
            <a:off x="5852160" y="4206240"/>
            <a:ext cx="1005840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CO" sz="19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Por qué importan: </a:t>
            </a:r>
            <a:r>
              <a:rPr lang="es-CO" sz="19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las pruebas de integración atraviesan HTTP y base de datos real —no una simulación— porque la unicidad del número de expediente y las transiciones de estado son propiedades de la base de datos.</a:t>
            </a:r>
          </a:p>
          <a:p>
            <a:pPr algn="l">
              <a:spcAft>
                <a:spcPts val="0"/>
              </a:spcAft>
              <a:buNone/>
            </a:pPr>
            <a:r>
              <a:rPr lang="es-CO" sz="19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Resultado: </a:t>
            </a:r>
            <a:r>
              <a:rPr lang="es-CO" sz="19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2 defectos encontrados y corregidos por la propia estrategia de pruebas; ninguno llegó a producción.</a:t>
            </a:r>
          </a:p>
        </p:txBody>
      </p:sp>
      <p:sp>
        <p:nvSpPr>
          <p:cNvPr id="107" name="Tecnologías 107"/>
          <p:cNvSpPr txBox="1"/>
          <p:nvPr/>
        </p:nvSpPr>
        <p:spPr>
          <a:xfrm>
            <a:off x="1280160" y="6309360"/>
            <a:ext cx="128016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2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Avance al corte</a:t>
            </a:r>
          </a:p>
          <a:p>
            <a:pPr algn="l">
              <a:spcAft>
                <a:spcPts val="400"/>
              </a:spcAft>
              <a:buNone/>
            </a:pPr>
            <a:r>
              <a:rPr lang="es-CO" sz="18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Requisitos: </a:t>
            </a: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24 funcionales y 18 no funcionales, con 12 historias de usuario y matriz de trazabilidad.</a:t>
            </a:r>
          </a:p>
          <a:p>
            <a:pPr algn="l">
              <a:spcAft>
                <a:spcPts val="400"/>
              </a:spcAft>
              <a:buNone/>
            </a:pPr>
            <a:r>
              <a:rPr lang="es-CO" sz="18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Sprints: </a:t>
            </a: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4 de 6 completados; incrementos 1 y 2 navegables de extremo a extremo.</a:t>
            </a:r>
          </a:p>
          <a:p>
            <a:pPr algn="l">
              <a:spcAft>
                <a:spcPts val="400"/>
              </a:spcAft>
              <a:buNone/>
            </a:pPr>
            <a:r>
              <a:rPr lang="es-CO" sz="18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Arquitectura: </a:t>
            </a: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14 entidades en 3FN y 8 decisiones documentadas en formato ADR.</a:t>
            </a:r>
          </a:p>
          <a:p>
            <a:pPr algn="l">
              <a:spcAft>
                <a:spcPts val="400"/>
              </a:spcAft>
              <a:buNone/>
            </a:pPr>
            <a:r>
              <a:rPr lang="es-CO" sz="18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Stack: </a:t>
            </a: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TypeScript, Node/Express, Prisma, React, Vite, Tailwind y Dexie.js sin conexión.</a:t>
            </a:r>
          </a:p>
        </p:txBody>
      </p:sp>
    </p:spTree>
    <p:extLst>
      <p:ext uri="{BB962C8B-B14F-4D97-AF65-F5344CB8AC3E}">
        <p14:creationId xmlns:p14="http://schemas.microsoft.com/office/powerpoint/2010/main" val="2107923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053078" cy="4114800"/>
          </a:xfrm>
          <a:custGeom>
            <a:avLst/>
            <a:gdLst/>
            <a:ahLst/>
            <a:cxnLst/>
            <a:rect l="l" t="t" r="r" b="b"/>
            <a:pathLst>
              <a:path w="4053078" h="4114800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 rot="-10800000">
            <a:off x="14430375" y="6172200"/>
            <a:ext cx="3857625" cy="4114800"/>
          </a:xfrm>
          <a:custGeom>
            <a:avLst/>
            <a:gdLst/>
            <a:ahLst/>
            <a:cxnLst/>
            <a:rect l="l" t="t" r="r" b="b"/>
            <a:pathLst>
              <a:path w="3857625" h="4114800">
                <a:moveTo>
                  <a:pt x="0" y="0"/>
                </a:moveTo>
                <a:lnTo>
                  <a:pt x="3857625" y="0"/>
                </a:lnTo>
                <a:lnTo>
                  <a:pt x="38576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448126" y="8776124"/>
            <a:ext cx="3604952" cy="977843"/>
          </a:xfrm>
          <a:custGeom>
            <a:avLst/>
            <a:gdLst/>
            <a:ahLst/>
            <a:cxnLst/>
            <a:rect l="l" t="t" r="r" b="b"/>
            <a:pathLst>
              <a:path w="3604952" h="977843">
                <a:moveTo>
                  <a:pt x="0" y="0"/>
                </a:moveTo>
                <a:lnTo>
                  <a:pt x="3604952" y="0"/>
                </a:lnTo>
                <a:lnTo>
                  <a:pt x="3604952" y="977843"/>
                </a:lnTo>
                <a:lnTo>
                  <a:pt x="0" y="977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1" name="Título 101"/>
          <p:cNvSpPr txBox="1"/>
          <p:nvPr/>
        </p:nvSpPr>
        <p:spPr>
          <a:xfrm>
            <a:off x="2177415" y="1692698"/>
            <a:ext cx="122529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5000" b="1" i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Arquitectura y decisiones técnicas</a:t>
            </a:r>
            <a:endParaRPr lang="es-CO" sz="5000" b="1" i="0" dirty="0">
              <a:solidFill>
                <a:srgbClr val="009240"/>
              </a:solidFill>
              <a:latin typeface="AmsiPro-Regular"/>
              <a:ea typeface="AmsiPro-Regular"/>
              <a:cs typeface="AmsiPro-Regular"/>
              <a:sym typeface="AmsiPro-Regular"/>
            </a:endParaRPr>
          </a:p>
        </p:txBody>
      </p:sp>
      <p:sp>
        <p:nvSpPr>
          <p:cNvPr id="102" name="Contexto 102"/>
          <p:cNvSpPr txBox="1"/>
          <p:nvPr/>
        </p:nvSpPr>
        <p:spPr>
          <a:xfrm>
            <a:off x="2177415" y="3155738"/>
            <a:ext cx="1225296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O" sz="22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El servidor y la interfaz comparten un único lenguaje, TypeScript, y separan el transporte HTTP de las reglas de negocio: los servicios se prueban sin levantar un servidor.</a:t>
            </a:r>
          </a:p>
        </p:txBody>
      </p:sp>
      <p:sp>
        <p:nvSpPr>
          <p:cNvPr id="103" name="Tarjeta 103"/>
          <p:cNvSpPr txBox="1"/>
          <p:nvPr/>
        </p:nvSpPr>
        <p:spPr>
          <a:xfrm>
            <a:off x="1584960" y="4838700"/>
            <a:ext cx="4937760" cy="2103120"/>
          </a:xfrm>
          <a:prstGeom prst="roundRect">
            <a:avLst>
              <a:gd name="adj" fmla="val 7000"/>
            </a:avLst>
          </a:prstGeom>
          <a:solidFill>
            <a:srgbClr val="EEF7F1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2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Tres capas y datos versionados</a:t>
            </a:r>
          </a:p>
          <a:p>
            <a:pPr algn="l"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14 entidades en tercera forma normal; cada expediente conserva la versión del formato que diligenció. Ocho decisiones documentadas en formato ADR.</a:t>
            </a:r>
          </a:p>
        </p:txBody>
      </p:sp>
      <p:sp>
        <p:nvSpPr>
          <p:cNvPr id="104" name="Tarjeta 104"/>
          <p:cNvSpPr txBox="1"/>
          <p:nvPr/>
        </p:nvSpPr>
        <p:spPr>
          <a:xfrm>
            <a:off x="6888480" y="4838700"/>
            <a:ext cx="4937760" cy="2103120"/>
          </a:xfrm>
          <a:prstGeom prst="roundRect">
            <a:avLst>
              <a:gd name="adj" fmla="val 7000"/>
            </a:avLst>
          </a:prstGeom>
          <a:solidFill>
            <a:srgbClr val="EEF7F1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2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Seguridad por diseño</a:t>
            </a:r>
          </a:p>
          <a:p>
            <a:pPr algn="l"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JWT con identificador aleatorio por token, bcrypt para contraseñas y permisos que siempre se resuelven en el servidor, nunca ocultando botones en el cliente.</a:t>
            </a:r>
          </a:p>
        </p:txBody>
      </p:sp>
      <p:sp>
        <p:nvSpPr>
          <p:cNvPr id="105" name="Tarjeta 105"/>
          <p:cNvSpPr txBox="1"/>
          <p:nvPr/>
        </p:nvSpPr>
        <p:spPr>
          <a:xfrm>
            <a:off x="12192000" y="4838700"/>
            <a:ext cx="4937760" cy="2103120"/>
          </a:xfrm>
          <a:prstGeom prst="roundRect">
            <a:avLst>
              <a:gd name="adj" fmla="val 7000"/>
            </a:avLst>
          </a:prstGeom>
          <a:solidFill>
            <a:srgbClr val="EEF7F1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O" sz="2200" b="1" i="0" dirty="0">
                <a:solidFill>
                  <a:srgbClr val="00602A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Trazabilidad de principio a fin</a:t>
            </a:r>
          </a:p>
          <a:p>
            <a:pPr algn="l">
              <a:spcAft>
                <a:spcPts val="0"/>
              </a:spcAft>
              <a:buNone/>
            </a:pPr>
            <a:r>
              <a:rPr lang="es-CO" sz="1800" b="0" i="0" dirty="0">
                <a:solidFill>
                  <a:srgbClr val="1F2933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24 requisitos funcionales y 18 no funcionales con matriz de trazabilidad hasta los objetivos; 4 de 6 sprints completados.</a:t>
            </a:r>
          </a:p>
        </p:txBody>
      </p:sp>
    </p:spTree>
    <p:extLst>
      <p:ext uri="{BB962C8B-B14F-4D97-AF65-F5344CB8AC3E}">
        <p14:creationId xmlns:p14="http://schemas.microsoft.com/office/powerpoint/2010/main" val="2485464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256683" cy="4849290"/>
          </a:xfrm>
          <a:custGeom>
            <a:avLst/>
            <a:gdLst/>
            <a:ahLst/>
            <a:cxnLst/>
            <a:rect l="l" t="t" r="r" b="b"/>
            <a:pathLst>
              <a:path w="5256683" h="4849290">
                <a:moveTo>
                  <a:pt x="0" y="0"/>
                </a:moveTo>
                <a:lnTo>
                  <a:pt x="5256683" y="0"/>
                </a:lnTo>
                <a:lnTo>
                  <a:pt x="5256683" y="4849290"/>
                </a:lnTo>
                <a:lnTo>
                  <a:pt x="0" y="4849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0" y="5587376"/>
            <a:ext cx="5491976" cy="4723099"/>
          </a:xfrm>
          <a:custGeom>
            <a:avLst/>
            <a:gdLst/>
            <a:ahLst/>
            <a:cxnLst/>
            <a:rect l="l" t="t" r="r" b="b"/>
            <a:pathLst>
              <a:path w="5491976" h="4723099">
                <a:moveTo>
                  <a:pt x="0" y="0"/>
                </a:moveTo>
                <a:lnTo>
                  <a:pt x="5491976" y="0"/>
                </a:lnTo>
                <a:lnTo>
                  <a:pt x="5491976" y="4723099"/>
                </a:lnTo>
                <a:lnTo>
                  <a:pt x="0" y="4723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2657475" y="5411918"/>
            <a:ext cx="5630525" cy="4898557"/>
          </a:xfrm>
          <a:custGeom>
            <a:avLst/>
            <a:gdLst/>
            <a:ahLst/>
            <a:cxnLst/>
            <a:rect l="l" t="t" r="r" b="b"/>
            <a:pathLst>
              <a:path w="5630525" h="4898557">
                <a:moveTo>
                  <a:pt x="0" y="0"/>
                </a:moveTo>
                <a:lnTo>
                  <a:pt x="5630525" y="0"/>
                </a:lnTo>
                <a:lnTo>
                  <a:pt x="5630525" y="4898557"/>
                </a:lnTo>
                <a:lnTo>
                  <a:pt x="0" y="4898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12657475" y="0"/>
            <a:ext cx="5630525" cy="4849290"/>
          </a:xfrm>
          <a:custGeom>
            <a:avLst/>
            <a:gdLst/>
            <a:ahLst/>
            <a:cxnLst/>
            <a:rect l="l" t="t" r="r" b="b"/>
            <a:pathLst>
              <a:path w="5630525" h="4849290">
                <a:moveTo>
                  <a:pt x="0" y="0"/>
                </a:moveTo>
                <a:lnTo>
                  <a:pt x="5630525" y="0"/>
                </a:lnTo>
                <a:lnTo>
                  <a:pt x="5630525" y="4849290"/>
                </a:lnTo>
                <a:lnTo>
                  <a:pt x="0" y="4849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1" name="Gracias 101"/>
          <p:cNvSpPr txBox="1"/>
          <p:nvPr/>
        </p:nvSpPr>
        <p:spPr>
          <a:xfrm>
            <a:off x="914400" y="2377440"/>
            <a:ext cx="164592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O" sz="9600" b="1" i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DEMO EN VIVO</a:t>
            </a:r>
            <a:endParaRPr lang="es-CO" sz="9600" b="1" i="0" dirty="0">
              <a:solidFill>
                <a:srgbClr val="009240"/>
              </a:solidFill>
              <a:latin typeface="AmsiPro-Regular"/>
              <a:ea typeface="AmsiPro-Regular"/>
              <a:cs typeface="AmsiPro-Regular"/>
              <a:sym typeface="AmsiPro-Regular"/>
            </a:endParaRPr>
          </a:p>
        </p:txBody>
      </p:sp>
      <p:sp>
        <p:nvSpPr>
          <p:cNvPr id="102" name="Cierre 102"/>
          <p:cNvSpPr txBox="1"/>
          <p:nvPr/>
        </p:nvSpPr>
        <p:spPr>
          <a:xfrm>
            <a:off x="914400" y="4480560"/>
            <a:ext cx="16459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O" sz="2800" b="0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1. Iniciar sesión — rol Central</a:t>
            </a:r>
          </a:p>
          <a:p>
            <a:pPr algn="ctr">
              <a:spcAft>
                <a:spcPts val="0"/>
              </a:spcAft>
              <a:buNone/>
            </a:pPr>
            <a:r>
              <a:rPr lang="es-CO" sz="2800" b="0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2. Tablero con 140 expedientes reales</a:t>
            </a:r>
          </a:p>
          <a:p>
            <a:pPr algn="ctr">
              <a:spcAft>
                <a:spcPts val="0"/>
              </a:spcAft>
              <a:buNone/>
            </a:pPr>
            <a:r>
              <a:rPr lang="es-CO" sz="2800" b="0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3. Radicar un expediente (número automático VS-2026-…)</a:t>
            </a:r>
          </a:p>
          <a:p>
            <a:pPr algn="ctr">
              <a:spcAft>
                <a:spcPts val="0"/>
              </a:spcAft>
              <a:buNone/>
            </a:pPr>
            <a:r>
              <a:rPr lang="es-CO" sz="2800" b="0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4. Desconectar la red, registrar y volver a sincronizar</a:t>
            </a:r>
          </a:p>
          <a:p>
            <a:pPr algn="ctr">
              <a:spcAft>
                <a:spcPts val="0"/>
              </a:spcAft>
              <a:buNone/>
            </a:pPr>
            <a:r>
              <a:rPr lang="es-CO" sz="2800" b="0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5. Cambiar a rol Técnico — solo ve lo suyo</a:t>
            </a:r>
          </a:p>
          <a:p>
            <a:pPr algn="ctr">
              <a:spcAft>
                <a:spcPts val="0"/>
              </a:spcAft>
              <a:buNone/>
            </a:pPr>
            <a:r>
              <a:rPr lang="es-CO" sz="2800" b="0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6. Ejecutar “npm run test” — 54 pruebas en verde</a:t>
            </a:r>
          </a:p>
        </p:txBody>
      </p:sp>
    </p:spTree>
    <p:extLst>
      <p:ext uri="{BB962C8B-B14F-4D97-AF65-F5344CB8AC3E}">
        <p14:creationId xmlns:p14="http://schemas.microsoft.com/office/powerpoint/2010/main" val="144528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256683" cy="4849290"/>
          </a:xfrm>
          <a:custGeom>
            <a:avLst/>
            <a:gdLst/>
            <a:ahLst/>
            <a:cxnLst/>
            <a:rect l="l" t="t" r="r" b="b"/>
            <a:pathLst>
              <a:path w="5256683" h="4849290">
                <a:moveTo>
                  <a:pt x="0" y="0"/>
                </a:moveTo>
                <a:lnTo>
                  <a:pt x="5256683" y="0"/>
                </a:lnTo>
                <a:lnTo>
                  <a:pt x="5256683" y="4849290"/>
                </a:lnTo>
                <a:lnTo>
                  <a:pt x="0" y="4849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0" y="5587376"/>
            <a:ext cx="5491976" cy="4723099"/>
          </a:xfrm>
          <a:custGeom>
            <a:avLst/>
            <a:gdLst/>
            <a:ahLst/>
            <a:cxnLst/>
            <a:rect l="l" t="t" r="r" b="b"/>
            <a:pathLst>
              <a:path w="5491976" h="4723099">
                <a:moveTo>
                  <a:pt x="0" y="0"/>
                </a:moveTo>
                <a:lnTo>
                  <a:pt x="5491976" y="0"/>
                </a:lnTo>
                <a:lnTo>
                  <a:pt x="5491976" y="4723099"/>
                </a:lnTo>
                <a:lnTo>
                  <a:pt x="0" y="4723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2657475" y="5411918"/>
            <a:ext cx="5630525" cy="4898557"/>
          </a:xfrm>
          <a:custGeom>
            <a:avLst/>
            <a:gdLst/>
            <a:ahLst/>
            <a:cxnLst/>
            <a:rect l="l" t="t" r="r" b="b"/>
            <a:pathLst>
              <a:path w="5630525" h="4898557">
                <a:moveTo>
                  <a:pt x="0" y="0"/>
                </a:moveTo>
                <a:lnTo>
                  <a:pt x="5630525" y="0"/>
                </a:lnTo>
                <a:lnTo>
                  <a:pt x="5630525" y="4898557"/>
                </a:lnTo>
                <a:lnTo>
                  <a:pt x="0" y="4898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12657475" y="0"/>
            <a:ext cx="5630525" cy="4849290"/>
          </a:xfrm>
          <a:custGeom>
            <a:avLst/>
            <a:gdLst/>
            <a:ahLst/>
            <a:cxnLst/>
            <a:rect l="l" t="t" r="r" b="b"/>
            <a:pathLst>
              <a:path w="5630525" h="4849290">
                <a:moveTo>
                  <a:pt x="0" y="0"/>
                </a:moveTo>
                <a:lnTo>
                  <a:pt x="5630525" y="0"/>
                </a:lnTo>
                <a:lnTo>
                  <a:pt x="5630525" y="4849290"/>
                </a:lnTo>
                <a:lnTo>
                  <a:pt x="0" y="4849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AutoShape 6"/>
          <p:cNvSpPr/>
          <p:nvPr/>
        </p:nvSpPr>
        <p:spPr>
          <a:xfrm>
            <a:off x="5270512" y="8189557"/>
            <a:ext cx="3078349" cy="0"/>
          </a:xfrm>
          <a:prstGeom prst="line">
            <a:avLst/>
          </a:prstGeom>
          <a:ln w="19050" cap="rnd">
            <a:solidFill>
              <a:srgbClr val="0092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5285074" y="8186881"/>
            <a:ext cx="3049227" cy="6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7"/>
              </a:lnSpc>
            </a:pPr>
            <a:r>
              <a:rPr lang="en-US" sz="2016" spc="1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Politecnico Colombiano</a:t>
            </a:r>
          </a:p>
          <a:p>
            <a:pPr marL="0" lvl="0" indent="0" algn="ctr">
              <a:lnSpc>
                <a:spcPts val="2217"/>
              </a:lnSpc>
            </a:pPr>
            <a:r>
              <a:rPr lang="en-US" sz="2016" spc="1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Jaime Isaza Cadavid</a:t>
            </a:r>
          </a:p>
        </p:txBody>
      </p:sp>
      <p:sp>
        <p:nvSpPr>
          <p:cNvPr id="8" name="AutoShape 8"/>
          <p:cNvSpPr/>
          <p:nvPr/>
        </p:nvSpPr>
        <p:spPr>
          <a:xfrm>
            <a:off x="8899946" y="8189557"/>
            <a:ext cx="3078349" cy="0"/>
          </a:xfrm>
          <a:prstGeom prst="line">
            <a:avLst/>
          </a:prstGeom>
          <a:ln w="19050" cap="rnd">
            <a:solidFill>
              <a:srgbClr val="0092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9" name="AutoShape 9"/>
          <p:cNvSpPr/>
          <p:nvPr/>
        </p:nvSpPr>
        <p:spPr>
          <a:xfrm flipV="1">
            <a:off x="5285074" y="7058573"/>
            <a:ext cx="6693221" cy="0"/>
          </a:xfrm>
          <a:prstGeom prst="line">
            <a:avLst/>
          </a:prstGeom>
          <a:ln w="19050" cap="rnd">
            <a:solidFill>
              <a:srgbClr val="0092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9452188" y="8186881"/>
            <a:ext cx="1973864" cy="34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17"/>
              </a:lnSpc>
              <a:spcBef>
                <a:spcPct val="0"/>
              </a:spcBef>
            </a:pPr>
            <a:r>
              <a:rPr lang="en-US" sz="2016" spc="1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@</a:t>
            </a:r>
            <a:r>
              <a:rPr lang="en-US" sz="2016" u="none" strike="noStrike" spc="1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politecnicojic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89915" y="9197917"/>
            <a:ext cx="6468977" cy="445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52"/>
              </a:lnSpc>
            </a:pPr>
            <a:r>
              <a:rPr lang="en-US" sz="2366" spc="11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https://www.politecnicojic.edu.co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50572" y="5549276"/>
            <a:ext cx="4985763" cy="1352388"/>
          </a:xfrm>
          <a:custGeom>
            <a:avLst/>
            <a:gdLst/>
            <a:ahLst/>
            <a:cxnLst/>
            <a:rect l="l" t="t" r="r" b="b"/>
            <a:pathLst>
              <a:path w="4985763" h="1352388">
                <a:moveTo>
                  <a:pt x="0" y="0"/>
                </a:moveTo>
                <a:lnTo>
                  <a:pt x="4985763" y="0"/>
                </a:lnTo>
                <a:lnTo>
                  <a:pt x="4985763" y="1352388"/>
                </a:lnTo>
                <a:lnTo>
                  <a:pt x="0" y="1352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13" name="Group 13"/>
          <p:cNvGrpSpPr/>
          <p:nvPr/>
        </p:nvGrpSpPr>
        <p:grpSpPr>
          <a:xfrm>
            <a:off x="5957666" y="7291060"/>
            <a:ext cx="5839097" cy="744232"/>
            <a:chOff x="0" y="0"/>
            <a:chExt cx="7785463" cy="992309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979221" cy="97922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532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7791" tIns="7791" rIns="7791" bIns="7791" rtlCol="0" anchor="ctr"/>
              <a:lstStyle/>
              <a:p>
                <a:pPr marL="0" lvl="0" indent="0" algn="ctr">
                  <a:lnSpc>
                    <a:spcPts val="111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271513" y="0"/>
              <a:ext cx="979221" cy="979221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532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7791" tIns="7791" rIns="7791" bIns="7791" rtlCol="0" anchor="ctr"/>
              <a:lstStyle/>
              <a:p>
                <a:pPr marL="0" lvl="0" indent="0" algn="ctr">
                  <a:lnSpc>
                    <a:spcPts val="111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334877" y="162132"/>
              <a:ext cx="309467" cy="654956"/>
            </a:xfrm>
            <a:custGeom>
              <a:avLst/>
              <a:gdLst/>
              <a:ahLst/>
              <a:cxnLst/>
              <a:rect l="l" t="t" r="r" b="b"/>
              <a:pathLst>
                <a:path w="309467" h="654956">
                  <a:moveTo>
                    <a:pt x="0" y="0"/>
                  </a:moveTo>
                  <a:lnTo>
                    <a:pt x="309467" y="0"/>
                  </a:lnTo>
                  <a:lnTo>
                    <a:pt x="309467" y="654956"/>
                  </a:lnTo>
                  <a:lnTo>
                    <a:pt x="0" y="654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5538138" y="0"/>
              <a:ext cx="979221" cy="979221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532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7791" tIns="7791" rIns="7791" bIns="7791" rtlCol="0" anchor="ctr"/>
              <a:lstStyle/>
              <a:p>
                <a:pPr marL="0" lvl="0" indent="0" algn="ctr">
                  <a:lnSpc>
                    <a:spcPts val="111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5742202" y="204064"/>
              <a:ext cx="571093" cy="571093"/>
            </a:xfrm>
            <a:custGeom>
              <a:avLst/>
              <a:gdLst/>
              <a:ahLst/>
              <a:cxnLst/>
              <a:rect l="l" t="t" r="r" b="b"/>
              <a:pathLst>
                <a:path w="571093" h="571093">
                  <a:moveTo>
                    <a:pt x="0" y="0"/>
                  </a:moveTo>
                  <a:lnTo>
                    <a:pt x="571093" y="0"/>
                  </a:lnTo>
                  <a:lnTo>
                    <a:pt x="571093" y="571093"/>
                  </a:lnTo>
                  <a:lnTo>
                    <a:pt x="0" y="571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4270034" y="0"/>
              <a:ext cx="979221" cy="979221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532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7791" tIns="7791" rIns="7791" bIns="7791" rtlCol="0" anchor="ctr"/>
              <a:lstStyle/>
              <a:p>
                <a:pPr marL="0" lvl="0" indent="0" algn="ctr">
                  <a:lnSpc>
                    <a:spcPts val="111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4460594" y="205549"/>
              <a:ext cx="615057" cy="594298"/>
            </a:xfrm>
            <a:custGeom>
              <a:avLst/>
              <a:gdLst/>
              <a:ahLst/>
              <a:cxnLst/>
              <a:rect l="l" t="t" r="r" b="b"/>
              <a:pathLst>
                <a:path w="615057" h="594298">
                  <a:moveTo>
                    <a:pt x="0" y="0"/>
                  </a:moveTo>
                  <a:lnTo>
                    <a:pt x="615056" y="0"/>
                  </a:lnTo>
                  <a:lnTo>
                    <a:pt x="615056" y="594299"/>
                  </a:lnTo>
                  <a:lnTo>
                    <a:pt x="0" y="59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806242" y="0"/>
              <a:ext cx="979221" cy="979221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532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7791" tIns="7791" rIns="7791" bIns="7791" rtlCol="0" anchor="ctr"/>
              <a:lstStyle/>
              <a:p>
                <a:pPr marL="0" lvl="0" indent="0" algn="ctr">
                  <a:lnSpc>
                    <a:spcPts val="111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1423610" y="271924"/>
              <a:ext cx="675027" cy="461550"/>
            </a:xfrm>
            <a:custGeom>
              <a:avLst/>
              <a:gdLst/>
              <a:ahLst/>
              <a:cxnLst/>
              <a:rect l="l" t="t" r="r" b="b"/>
              <a:pathLst>
                <a:path w="675027" h="461550">
                  <a:moveTo>
                    <a:pt x="0" y="0"/>
                  </a:moveTo>
                  <a:lnTo>
                    <a:pt x="675027" y="0"/>
                  </a:lnTo>
                  <a:lnTo>
                    <a:pt x="675027" y="461550"/>
                  </a:lnTo>
                  <a:lnTo>
                    <a:pt x="0" y="46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6806242" y="13088"/>
              <a:ext cx="979221" cy="979221"/>
            </a:xfrm>
            <a:custGeom>
              <a:avLst/>
              <a:gdLst/>
              <a:ahLst/>
              <a:cxnLst/>
              <a:rect l="l" t="t" r="r" b="b"/>
              <a:pathLst>
                <a:path w="979221" h="979221">
                  <a:moveTo>
                    <a:pt x="0" y="0"/>
                  </a:moveTo>
                  <a:lnTo>
                    <a:pt x="979221" y="0"/>
                  </a:lnTo>
                  <a:lnTo>
                    <a:pt x="979221" y="979221"/>
                  </a:lnTo>
                  <a:lnTo>
                    <a:pt x="0" y="979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101" name="Gracias 101"/>
          <p:cNvSpPr txBox="1"/>
          <p:nvPr/>
        </p:nvSpPr>
        <p:spPr>
          <a:xfrm>
            <a:off x="914400" y="2377440"/>
            <a:ext cx="164592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O" sz="9600" b="1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¡Gracias!</a:t>
            </a:r>
          </a:p>
        </p:txBody>
      </p:sp>
      <p:sp>
        <p:nvSpPr>
          <p:cNvPr id="102" name="Cierre 102"/>
          <p:cNvSpPr txBox="1"/>
          <p:nvPr/>
        </p:nvSpPr>
        <p:spPr>
          <a:xfrm>
            <a:off x="914400" y="4480560"/>
            <a:ext cx="16459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O" sz="3000" b="0" i="0" dirty="0">
                <a:solidFill>
                  <a:srgbClr val="009240"/>
                </a:solidFill>
                <a:latin typeface="AmsiPro-Regular"/>
                <a:ea typeface="AmsiPro-Regular"/>
                <a:cs typeface="AmsiPro-Regular"/>
                <a:sym typeface="AmsiPro-Regular"/>
              </a:rPr>
              <a:t>VialServi · Proyecto Integrador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35476D17-01A0-4DA3-A49B-8B50B38E0269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5687408-4FAE-44B6-8FBD-275772005654}">
  <we:reference id="wa200010215" version="2.0.0.1" store="es-MX" storeType="OMEX"/>
  <we:alternateReferences>
    <we:reference id="wa200010215" version="2.0.0.1" store="wa200010215" storeType="OMEX"/>
  </we:alternateReferences>
  <we:properties>
    <we:property name="bps.codex_control.document_id" value="&quot;dc4695d8-2526-4543-bcdc-fa440bfa39e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1950</Words>
  <Application>Microsoft Office PowerPoint</Application>
  <PresentationFormat>Personalizado</PresentationFormat>
  <Paragraphs>131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Calibri</vt:lpstr>
      <vt:lpstr>Arial</vt:lpstr>
      <vt:lpstr>AmsiPro-Regular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INSTITUCIONAL 2026 - 1</dc:title>
  <cp:lastModifiedBy>Andrés Orozco</cp:lastModifiedBy>
  <cp:revision>4</cp:revision>
  <dcterms:created xsi:type="dcterms:W3CDTF">2006-08-16T00:00:00Z</dcterms:created>
  <dcterms:modified xsi:type="dcterms:W3CDTF">2026-10-03T17:28:45Z</dcterms:modified>
  <dc:identifier>DAG_EC4011o</dc:identifier>
</cp:coreProperties>
</file>